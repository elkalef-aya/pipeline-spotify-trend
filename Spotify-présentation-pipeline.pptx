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y Grotesk Grand Bold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Times New Roman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3" name="TextBox 3"/>
          <p:cNvSpPr txBox="1"/>
          <p:nvPr/>
        </p:nvSpPr>
        <p:spPr>
          <a:xfrm>
            <a:off x="11877449" y="9581967"/>
            <a:ext cx="641055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21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PRESENTÉE PAR EL KALEF AYA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386466" y="295040"/>
            <a:ext cx="338732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19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PIPELINE ANALYTIQUE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57283" y="771294"/>
            <a:ext cx="2802017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spc="19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POUR UNE AGENCE</a:t>
            </a:r>
          </a:p>
          <a:p>
            <a:pPr algn="ctr">
              <a:lnSpc>
                <a:spcPts val="2799"/>
              </a:lnSpc>
            </a:pPr>
            <a:endParaRPr lang="en-US" sz="1999" b="1" spc="193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19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ÉVÉNEMENTIELLE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485922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3" name="AutoShape 3"/>
          <p:cNvSpPr/>
          <p:nvPr/>
        </p:nvSpPr>
        <p:spPr>
          <a:xfrm flipV="1">
            <a:off x="0" y="507571"/>
            <a:ext cx="18288000" cy="13788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4" name="TextBox 4"/>
          <p:cNvSpPr txBox="1"/>
          <p:nvPr/>
        </p:nvSpPr>
        <p:spPr>
          <a:xfrm>
            <a:off x="7197709" y="645457"/>
            <a:ext cx="7146942" cy="68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3948" b="1">
                <a:solidFill>
                  <a:srgbClr val="00000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CONTEXTE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35568"/>
            <a:ext cx="15223677" cy="607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1"/>
              </a:lnSpc>
            </a:pPr>
            <a:r>
              <a:rPr lang="en-US" sz="293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ASSILE EVENT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organise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soirées et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événements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pour les jeunes,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fait face à des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majeurs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634051" lvl="1" indent="-317026" algn="l">
              <a:lnSpc>
                <a:spcPts val="4111"/>
              </a:lnSpc>
              <a:buAutoNum type="arabicPeriod"/>
            </a:pP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animer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musicalement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les jeunes de manière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optimale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</a:p>
          <a:p>
            <a:pPr marL="1268103" lvl="2" indent="-422701" algn="l">
              <a:lnSpc>
                <a:spcPts val="4111"/>
              </a:lnSpc>
              <a:buFont typeface="Arial"/>
              <a:buChar char="⚬"/>
            </a:pP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Besoin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connaître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les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préférences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musicales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actuelles</a:t>
            </a:r>
            <a:endParaRPr lang="en-US" sz="293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68103" lvl="2" indent="-422701" algn="l">
              <a:lnSpc>
                <a:spcPts val="4111"/>
              </a:lnSpc>
              <a:buFont typeface="Arial"/>
              <a:buChar char="⚬"/>
            </a:pP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tendances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changent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rapidement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268103" lvl="2" indent="-422701" algn="l">
              <a:lnSpc>
                <a:spcPts val="4111"/>
              </a:lnSpc>
              <a:buFont typeface="Arial"/>
              <a:buChar char="⚬"/>
            </a:pP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Risque de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choisir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mauvaises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chansons = soirée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moins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réussie</a:t>
            </a:r>
            <a:endParaRPr lang="en-US" sz="293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4051" lvl="1" indent="-317026" algn="l">
              <a:lnSpc>
                <a:spcPts val="4111"/>
              </a:lnSpc>
              <a:buFont typeface="Arial"/>
              <a:buChar char="•"/>
            </a:pPr>
            <a:endParaRPr lang="en-US" sz="293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4051" lvl="1" indent="-317026" algn="l">
              <a:lnSpc>
                <a:spcPts val="4111"/>
              </a:lnSpc>
              <a:buAutoNum type="arabicPeriod"/>
            </a:pP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Quels artistes/chansons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sont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réellement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demandés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</a:p>
          <a:p>
            <a:pPr marL="1268103" lvl="2" indent="-422701" algn="l">
              <a:lnSpc>
                <a:spcPts val="4111"/>
              </a:lnSpc>
              <a:buFont typeface="Arial"/>
              <a:buChar char="⚬"/>
            </a:pP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Données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éparses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manuelles</a:t>
            </a:r>
            <a:endParaRPr lang="en-US" sz="293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68103" lvl="2" indent="-422701" algn="l">
              <a:lnSpc>
                <a:spcPts val="4111"/>
              </a:lnSpc>
              <a:buFont typeface="Arial"/>
              <a:buChar char="⚬"/>
            </a:pP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 de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vue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consolidée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tendances</a:t>
            </a:r>
          </a:p>
          <a:p>
            <a:pPr marL="1268103" lvl="2" indent="-422701" algn="l">
              <a:lnSpc>
                <a:spcPts val="4111"/>
              </a:lnSpc>
              <a:buFont typeface="Arial"/>
              <a:buChar char="⚬"/>
            </a:pP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Décisions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basées</a:t>
            </a:r>
            <a:r>
              <a:rPr lang="en-US" sz="293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sur intuition, pas sur données</a:t>
            </a:r>
          </a:p>
          <a:p>
            <a:pPr algn="l">
              <a:lnSpc>
                <a:spcPts val="3271"/>
              </a:lnSpc>
            </a:pPr>
            <a:endParaRPr lang="en-US" sz="293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252377" y="8612218"/>
            <a:ext cx="1326205" cy="1326205"/>
          </a:xfrm>
          <a:custGeom>
            <a:avLst/>
            <a:gdLst/>
            <a:ahLst/>
            <a:cxnLst/>
            <a:rect l="l" t="t" r="r" b="b"/>
            <a:pathLst>
              <a:path w="1326205" h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7374" y="736741"/>
            <a:ext cx="8845908" cy="464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6"/>
              </a:lnSpc>
            </a:pPr>
            <a:r>
              <a:rPr lang="en-US" sz="2726" b="1">
                <a:solidFill>
                  <a:srgbClr val="00000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DATA PIPELINE SPOTIFY + AWS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0" y="1485905"/>
            <a:ext cx="18288000" cy="7131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4" name="AutoShape 4"/>
          <p:cNvSpPr/>
          <p:nvPr/>
        </p:nvSpPr>
        <p:spPr>
          <a:xfrm flipV="1">
            <a:off x="0" y="571500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5" name="Freeform 5"/>
          <p:cNvSpPr/>
          <p:nvPr/>
        </p:nvSpPr>
        <p:spPr>
          <a:xfrm>
            <a:off x="16596198" y="8595198"/>
            <a:ext cx="1326205" cy="1326205"/>
          </a:xfrm>
          <a:custGeom>
            <a:avLst/>
            <a:gdLst/>
            <a:ahLst/>
            <a:cxnLst/>
            <a:rect l="l" t="t" r="r" b="b"/>
            <a:pathLst>
              <a:path w="1326205" h="1326205">
                <a:moveTo>
                  <a:pt x="0" y="0"/>
                </a:moveTo>
                <a:lnTo>
                  <a:pt x="1326204" y="0"/>
                </a:lnTo>
                <a:lnTo>
                  <a:pt x="1326204" y="1326204"/>
                </a:lnTo>
                <a:lnTo>
                  <a:pt x="0" y="132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6" name="TextBox 6"/>
          <p:cNvSpPr txBox="1"/>
          <p:nvPr/>
        </p:nvSpPr>
        <p:spPr>
          <a:xfrm>
            <a:off x="200053" y="2666200"/>
            <a:ext cx="17600550" cy="547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3"/>
              </a:lnSpc>
              <a:spcBef>
                <a:spcPct val="0"/>
              </a:spcBef>
            </a:pPr>
            <a:r>
              <a:rPr lang="en-US" sz="3088" spc="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CRÉER UNE PIPELINE DE DONNÉES COMPLÈTEMENT AUTOMATISÉE QUI:</a:t>
            </a:r>
          </a:p>
          <a:p>
            <a:pPr algn="just">
              <a:lnSpc>
                <a:spcPts val="4323"/>
              </a:lnSpc>
              <a:spcBef>
                <a:spcPct val="0"/>
              </a:spcBef>
            </a:pPr>
            <a:endParaRPr lang="en-US" sz="3088" spc="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00394" lvl="3" indent="-500099" algn="just">
              <a:lnSpc>
                <a:spcPts val="4323"/>
              </a:lnSpc>
              <a:spcBef>
                <a:spcPct val="0"/>
              </a:spcBef>
              <a:buFont typeface="Arial"/>
              <a:buChar char="￭"/>
            </a:pPr>
            <a:r>
              <a:rPr lang="en-US" sz="3088" spc="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RECUPÉRER DES DONNÉES SPOTIFY RÉELES  EN 2025</a:t>
            </a:r>
          </a:p>
          <a:p>
            <a:pPr marL="1333596" lvl="2" indent="-444532" algn="just">
              <a:lnSpc>
                <a:spcPts val="4323"/>
              </a:lnSpc>
              <a:spcBef>
                <a:spcPct val="0"/>
              </a:spcBef>
              <a:buFont typeface="Arial"/>
              <a:buChar char="⚬"/>
            </a:pPr>
            <a:endParaRPr lang="en-US" sz="3088" spc="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00394" lvl="3" indent="-500099" algn="just">
              <a:lnSpc>
                <a:spcPts val="4323"/>
              </a:lnSpc>
              <a:spcBef>
                <a:spcPct val="0"/>
              </a:spcBef>
              <a:buFont typeface="Arial"/>
              <a:buChar char="￭"/>
            </a:pPr>
            <a:r>
              <a:rPr lang="en-US" sz="3088" spc="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STOCKE LES DONNÉES DE MANIÈRE STRUCTURÉE </a:t>
            </a:r>
          </a:p>
          <a:p>
            <a:pPr marL="1333596" lvl="2" indent="-444532" algn="just">
              <a:lnSpc>
                <a:spcPts val="4323"/>
              </a:lnSpc>
              <a:spcBef>
                <a:spcPct val="0"/>
              </a:spcBef>
              <a:buFont typeface="Arial"/>
              <a:buChar char="⚬"/>
            </a:pPr>
            <a:endParaRPr lang="en-US" sz="3088" spc="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00394" lvl="3" indent="-500099" algn="just">
              <a:lnSpc>
                <a:spcPts val="4323"/>
              </a:lnSpc>
              <a:spcBef>
                <a:spcPct val="0"/>
              </a:spcBef>
              <a:buFont typeface="Arial"/>
              <a:buChar char="￭"/>
            </a:pPr>
            <a:r>
              <a:rPr lang="en-US" sz="3088" spc="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TRAITE ET NETTOIE LES DONNÉES (FORMATS, AGRÉGATIONS)</a:t>
            </a:r>
          </a:p>
          <a:p>
            <a:pPr marL="1333596" lvl="2" indent="-444532" algn="just">
              <a:lnSpc>
                <a:spcPts val="4323"/>
              </a:lnSpc>
              <a:spcBef>
                <a:spcPct val="0"/>
              </a:spcBef>
              <a:buFont typeface="Arial"/>
              <a:buChar char="⚬"/>
            </a:pPr>
            <a:endParaRPr lang="en-US" sz="3088" spc="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00394" lvl="3" indent="-500099" algn="just">
              <a:lnSpc>
                <a:spcPts val="4323"/>
              </a:lnSpc>
              <a:spcBef>
                <a:spcPct val="0"/>
              </a:spcBef>
              <a:buFont typeface="Arial"/>
              <a:buChar char="￭"/>
            </a:pPr>
            <a:r>
              <a:rPr lang="en-US" sz="3088" spc="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ANALYSEPOUR EXTRAIRE DES KPI UTILES:</a:t>
            </a:r>
          </a:p>
          <a:p>
            <a:pPr marL="3333990" lvl="5" indent="-555665" algn="just">
              <a:lnSpc>
                <a:spcPts val="4323"/>
              </a:lnSpc>
              <a:spcBef>
                <a:spcPct val="0"/>
              </a:spcBef>
              <a:buFont typeface="Arial"/>
              <a:buChar char="⚬"/>
            </a:pPr>
            <a:endParaRPr lang="en-US" sz="3088" spc="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1504366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3" name="AutoShape 3"/>
          <p:cNvSpPr/>
          <p:nvPr/>
        </p:nvSpPr>
        <p:spPr>
          <a:xfrm flipV="1">
            <a:off x="0" y="592726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4" name="TextBox 4"/>
          <p:cNvSpPr txBox="1"/>
          <p:nvPr/>
        </p:nvSpPr>
        <p:spPr>
          <a:xfrm>
            <a:off x="6764932" y="708166"/>
            <a:ext cx="5744587" cy="68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3948" b="1">
                <a:solidFill>
                  <a:srgbClr val="00000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CAS D’USAGE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0200" y="1946022"/>
            <a:ext cx="14552084" cy="763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482" b="1" spc="240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VOLUME (QUANTITÉ DE DONNÉES) :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endParaRPr lang="en-US" sz="2482" b="1" spc="240" dirty="0">
              <a:solidFill>
                <a:srgbClr val="1800A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✓ 7200 DONNÉES 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endParaRPr lang="en-US" sz="1758" b="1" spc="170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✓ 691 CHANSONS UNIQUES IDENTIFIÉES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endParaRPr lang="en-US" sz="1758" b="1" spc="170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442 ARTISTES DIFFÉRENTS</a:t>
            </a:r>
          </a:p>
          <a:p>
            <a:pPr algn="l">
              <a:lnSpc>
                <a:spcPts val="4343"/>
              </a:lnSpc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250 LABELS/SOURCES DOCUMENTÉS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→ DONNÉES SUFFISANTES POUR PRENDRE DES DÉCISIONS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SOLIDES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3475"/>
              </a:lnSpc>
              <a:spcBef>
                <a:spcPct val="0"/>
              </a:spcBef>
            </a:pPr>
            <a:r>
              <a:rPr lang="en-US" sz="2482" b="1" spc="240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VÉLOCITÉ :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endParaRPr lang="en-US" sz="2482" b="1" spc="240" dirty="0">
              <a:solidFill>
                <a:srgbClr val="1800A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DONNÉES SPOTIFY CHARTS 2025 (ACTUELLES ET PERTINENTES)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endParaRPr lang="en-US" sz="1758" b="1" spc="170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spc="232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spc="232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VARIÉTÉ (DIVERSITÉ DES DONNÉES) :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endParaRPr lang="en-US" sz="2400" b="1" spc="232" dirty="0">
              <a:solidFill>
                <a:srgbClr val="1800A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CLASSEMENT DANS LES CHARTS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ARTISTES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NOM DE LA CHANSON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LABEL/MAISON DE DISQUES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</a:t>
            </a:r>
          </a:p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spc="170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→ DONNÉES STRUCTURÉES PRÊTES À L'ANALYSE</a:t>
            </a:r>
          </a:p>
        </p:txBody>
      </p:sp>
      <p:sp>
        <p:nvSpPr>
          <p:cNvPr id="6" name="Freeform 6"/>
          <p:cNvSpPr/>
          <p:nvPr/>
        </p:nvSpPr>
        <p:spPr>
          <a:xfrm>
            <a:off x="16596198" y="8595198"/>
            <a:ext cx="1326205" cy="1326205"/>
          </a:xfrm>
          <a:custGeom>
            <a:avLst/>
            <a:gdLst/>
            <a:ahLst/>
            <a:cxnLst/>
            <a:rect l="l" t="t" r="r" b="b"/>
            <a:pathLst>
              <a:path w="1326205" h="1326205">
                <a:moveTo>
                  <a:pt x="0" y="0"/>
                </a:moveTo>
                <a:lnTo>
                  <a:pt x="1326204" y="0"/>
                </a:lnTo>
                <a:lnTo>
                  <a:pt x="1326204" y="1326204"/>
                </a:lnTo>
                <a:lnTo>
                  <a:pt x="0" y="132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6028"/>
            <a:ext cx="18288000" cy="2119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3" name="AutoShape 3"/>
          <p:cNvSpPr/>
          <p:nvPr/>
        </p:nvSpPr>
        <p:spPr>
          <a:xfrm flipV="1">
            <a:off x="0" y="571517"/>
            <a:ext cx="18288000" cy="2119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4" name="Freeform 4"/>
          <p:cNvSpPr/>
          <p:nvPr/>
        </p:nvSpPr>
        <p:spPr>
          <a:xfrm>
            <a:off x="16307858" y="8595198"/>
            <a:ext cx="1326205" cy="1326205"/>
          </a:xfrm>
          <a:custGeom>
            <a:avLst/>
            <a:gdLst/>
            <a:ahLst/>
            <a:cxnLst/>
            <a:rect l="l" t="t" r="r" b="b"/>
            <a:pathLst>
              <a:path w="1326205" h="1326205">
                <a:moveTo>
                  <a:pt x="0" y="0"/>
                </a:moveTo>
                <a:lnTo>
                  <a:pt x="1326205" y="0"/>
                </a:lnTo>
                <a:lnTo>
                  <a:pt x="1326205" y="1326204"/>
                </a:lnTo>
                <a:lnTo>
                  <a:pt x="0" y="132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5" name="TextBox 5"/>
          <p:cNvSpPr txBox="1"/>
          <p:nvPr/>
        </p:nvSpPr>
        <p:spPr>
          <a:xfrm>
            <a:off x="1899895" y="3321397"/>
            <a:ext cx="15571914" cy="4897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spc="232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spc="232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VÉRACITÉ (QUALITÉ &amp; FIABILITÉ):</a:t>
            </a:r>
          </a:p>
          <a:p>
            <a:pPr algn="l">
              <a:lnSpc>
                <a:spcPts val="2477"/>
              </a:lnSpc>
              <a:spcBef>
                <a:spcPct val="0"/>
              </a:spcBef>
            </a:pPr>
            <a:endParaRPr lang="en-US" sz="2400" b="1" spc="232" dirty="0">
              <a:solidFill>
                <a:srgbClr val="1800A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477"/>
              </a:lnSpc>
              <a:spcBef>
                <a:spcPct val="0"/>
              </a:spcBef>
            </a:pPr>
            <a:r>
              <a:rPr lang="en-US" sz="1769" b="1" spc="17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SOURCE OFFICIELLE: SPOTIFY CHARTS (DONNÉES RÉELLES)</a:t>
            </a:r>
          </a:p>
          <a:p>
            <a:pPr algn="l">
              <a:lnSpc>
                <a:spcPts val="2477"/>
              </a:lnSpc>
              <a:spcBef>
                <a:spcPct val="0"/>
              </a:spcBef>
            </a:pPr>
            <a:r>
              <a:rPr lang="en-US" sz="1769" b="1" spc="17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</a:t>
            </a:r>
          </a:p>
          <a:p>
            <a:pPr algn="l">
              <a:lnSpc>
                <a:spcPts val="2477"/>
              </a:lnSpc>
              <a:spcBef>
                <a:spcPct val="0"/>
              </a:spcBef>
            </a:pPr>
            <a:r>
              <a:rPr lang="en-US" sz="1769" b="1" spc="17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PAS DE DONNÉES MANQUANTES</a:t>
            </a:r>
          </a:p>
          <a:p>
            <a:pPr algn="l">
              <a:lnSpc>
                <a:spcPts val="2477"/>
              </a:lnSpc>
              <a:spcBef>
                <a:spcPct val="0"/>
              </a:spcBef>
            </a:pPr>
            <a:r>
              <a:rPr lang="en-US" sz="1769" b="1" spc="17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→ LES DÉCISIONS REPOSENT SUR DES DONNÉES FIABLES</a:t>
            </a:r>
          </a:p>
          <a:p>
            <a:pPr algn="l">
              <a:lnSpc>
                <a:spcPts val="2477"/>
              </a:lnSpc>
              <a:spcBef>
                <a:spcPct val="0"/>
              </a:spcBef>
            </a:pPr>
            <a:endParaRPr lang="en-US" sz="1769" b="1" spc="17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spc="232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00" b="1" spc="232" dirty="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VALEUR (KPI):</a:t>
            </a:r>
          </a:p>
          <a:p>
            <a:pPr algn="l">
              <a:lnSpc>
                <a:spcPts val="3574"/>
              </a:lnSpc>
            </a:pPr>
            <a:r>
              <a:rPr lang="en-US" sz="1769" b="1" spc="17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TOP 20 HITS </a:t>
            </a:r>
          </a:p>
          <a:p>
            <a:pPr algn="l">
              <a:lnSpc>
                <a:spcPts val="3574"/>
              </a:lnSpc>
            </a:pPr>
            <a:r>
              <a:rPr lang="en-US" sz="1769" b="1" spc="17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CHANSONS DURABLES </a:t>
            </a:r>
          </a:p>
          <a:p>
            <a:pPr algn="l">
              <a:lnSpc>
                <a:spcPts val="3574"/>
              </a:lnSpc>
            </a:pPr>
            <a:r>
              <a:rPr lang="en-US" sz="1769" b="1" spc="17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TOP ARTISTES </a:t>
            </a:r>
          </a:p>
          <a:p>
            <a:pPr algn="l">
              <a:lnSpc>
                <a:spcPts val="3574"/>
              </a:lnSpc>
            </a:pPr>
            <a:r>
              <a:rPr lang="en-US" sz="1769" b="1" spc="17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✓ LABELS DOMINANTS </a:t>
            </a:r>
          </a:p>
          <a:p>
            <a:pPr algn="l">
              <a:lnSpc>
                <a:spcPts val="3574"/>
              </a:lnSpc>
            </a:pPr>
            <a:r>
              <a:rPr lang="en-US" sz="1769" b="1" spc="17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→  PULSE EVENTS PREND MEILLEURES DÉCISIONS = MEILLEURES SOIRÉES = PLUS DE CLIENTS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3" r="-1463"/>
            </a:stretch>
          </a:blipFill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1333502"/>
            <a:ext cx="18288000" cy="7620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3" name="AutoShape 3"/>
          <p:cNvSpPr/>
          <p:nvPr/>
        </p:nvSpPr>
        <p:spPr>
          <a:xfrm flipV="1">
            <a:off x="0" y="511763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5" name="Freeform 5"/>
          <p:cNvSpPr/>
          <p:nvPr/>
        </p:nvSpPr>
        <p:spPr>
          <a:xfrm>
            <a:off x="654719" y="2164495"/>
            <a:ext cx="8883457" cy="7759961"/>
          </a:xfrm>
          <a:custGeom>
            <a:avLst/>
            <a:gdLst/>
            <a:ahLst/>
            <a:cxnLst/>
            <a:rect l="l" t="t" r="r" b="b"/>
            <a:pathLst>
              <a:path w="8883457" h="7759961">
                <a:moveTo>
                  <a:pt x="0" y="0"/>
                </a:moveTo>
                <a:lnTo>
                  <a:pt x="8883456" y="0"/>
                </a:lnTo>
                <a:lnTo>
                  <a:pt x="8883456" y="7759961"/>
                </a:lnTo>
                <a:lnTo>
                  <a:pt x="0" y="7759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6" name="TextBox 6"/>
          <p:cNvSpPr txBox="1"/>
          <p:nvPr/>
        </p:nvSpPr>
        <p:spPr>
          <a:xfrm>
            <a:off x="7917323" y="650086"/>
            <a:ext cx="5652658" cy="1376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3948" b="1">
                <a:solidFill>
                  <a:srgbClr val="00000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 COÛTS</a:t>
            </a:r>
          </a:p>
          <a:p>
            <a:pPr algn="l">
              <a:lnSpc>
                <a:spcPts val="5527"/>
              </a:lnSpc>
            </a:pPr>
            <a:endParaRPr lang="en-US" sz="3948" b="1">
              <a:solidFill>
                <a:srgbClr val="000000"/>
              </a:solidFill>
              <a:latin typeface="Cy Grotesk Grand Bold"/>
              <a:ea typeface="Cy Grotesk Grand Bold"/>
              <a:cs typeface="Cy Grotesk Grand Bold"/>
              <a:sym typeface="Cy Grotesk Gran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58400" y="1866900"/>
            <a:ext cx="7861221" cy="217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4399"/>
              </a:lnSpc>
              <a:buFont typeface="Arial" panose="020B0604020202020204" pitchFamily="34" charset="0"/>
              <a:buChar char="•"/>
            </a:pPr>
            <a:r>
              <a:rPr lang="en-US" sz="1999" b="1" spc="19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LE COÛT PRINCIPAL = AWS GLUE JOB</a:t>
            </a:r>
          </a:p>
          <a:p>
            <a:pPr marL="431799" lvl="1" indent="-215899" algn="l">
              <a:lnSpc>
                <a:spcPts val="4399"/>
              </a:lnSpc>
              <a:buFont typeface="Arial"/>
              <a:buChar char="•"/>
            </a:pPr>
            <a:r>
              <a:rPr lang="en-US" sz="1999" b="1" spc="19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LES $21.80 NE SONT PAS DUS À UNE MAUVAISE ARCHITECTURE ILS SONT DUS À UNE ERREUR HUMAINE: J'AI OUBLIÉ D'ARRÊTER LE LAB</a:t>
            </a:r>
          </a:p>
        </p:txBody>
      </p:sp>
      <p:pic>
        <p:nvPicPr>
          <p:cNvPr id="9" name="Image 8" descr="Une image contenant texte, Police, nombre, ligne&#10;&#10;Le contenu généré par l’IA peut être incorrect.">
            <a:extLst>
              <a:ext uri="{FF2B5EF4-FFF2-40B4-BE49-F238E27FC236}">
                <a16:creationId xmlns:a16="http://schemas.microsoft.com/office/drawing/2014/main" id="{6FED2B17-D9E3-D84B-B15A-9E8A7A53D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1954" y="4560209"/>
            <a:ext cx="7421327" cy="296853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D9800BB-4BE9-B793-7C7C-51E62C2D4078}"/>
              </a:ext>
            </a:extLst>
          </p:cNvPr>
          <p:cNvSpPr txBox="1"/>
          <p:nvPr/>
        </p:nvSpPr>
        <p:spPr>
          <a:xfrm>
            <a:off x="764440" y="1699455"/>
            <a:ext cx="9151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193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USAGE NORMAL</a:t>
            </a:r>
            <a:endParaRPr lang="fr-B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1502249"/>
            <a:ext cx="18288000" cy="5496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3" name="AutoShape 3"/>
          <p:cNvSpPr/>
          <p:nvPr/>
        </p:nvSpPr>
        <p:spPr>
          <a:xfrm flipV="1">
            <a:off x="0" y="592724"/>
            <a:ext cx="18288000" cy="5496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4" name="TextBox 4"/>
          <p:cNvSpPr txBox="1"/>
          <p:nvPr/>
        </p:nvSpPr>
        <p:spPr>
          <a:xfrm>
            <a:off x="5257800" y="723463"/>
            <a:ext cx="8383565" cy="564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1400" b="1" dirty="0">
                <a:solidFill>
                  <a:srgbClr val="00000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DÉMONSTRATION DU FLUX AUTOMATISÉ VIA CLOUDFORMATION</a:t>
            </a:r>
          </a:p>
        </p:txBody>
      </p:sp>
      <p:pic>
        <p:nvPicPr>
          <p:cNvPr id="6" name="Image 5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1D2DD11F-7A54-5701-50AA-38DF0AC27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5622414"/>
            <a:ext cx="14242752" cy="3444863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A686BF8-205F-0962-2881-E19E2213F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0306" y="1771105"/>
            <a:ext cx="6426071" cy="3612667"/>
          </a:xfrm>
          <a:prstGeom prst="rect">
            <a:avLst/>
          </a:prstGeom>
        </p:spPr>
      </p:pic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9CD0992-B24C-B356-058D-70D23031B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01" y="1771106"/>
            <a:ext cx="5582429" cy="3667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0" y="155721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3" name="AutoShape 3"/>
          <p:cNvSpPr/>
          <p:nvPr/>
        </p:nvSpPr>
        <p:spPr>
          <a:xfrm flipV="1">
            <a:off x="0" y="592734"/>
            <a:ext cx="18288000" cy="2924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4" name="Freeform 4"/>
          <p:cNvSpPr/>
          <p:nvPr/>
        </p:nvSpPr>
        <p:spPr>
          <a:xfrm>
            <a:off x="15933095" y="8338820"/>
            <a:ext cx="1326205" cy="1326205"/>
          </a:xfrm>
          <a:custGeom>
            <a:avLst/>
            <a:gdLst/>
            <a:ahLst/>
            <a:cxnLst/>
            <a:rect l="l" t="t" r="r" b="b"/>
            <a:pathLst>
              <a:path w="1326205" h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5" name="Freeform 5"/>
          <p:cNvSpPr/>
          <p:nvPr/>
        </p:nvSpPr>
        <p:spPr>
          <a:xfrm>
            <a:off x="13610165" y="7728612"/>
            <a:ext cx="4645860" cy="2546620"/>
          </a:xfrm>
          <a:custGeom>
            <a:avLst/>
            <a:gdLst/>
            <a:ahLst/>
            <a:cxnLst/>
            <a:rect l="l" t="t" r="r" b="b"/>
            <a:pathLst>
              <a:path w="4645860" h="2546620">
                <a:moveTo>
                  <a:pt x="0" y="0"/>
                </a:moveTo>
                <a:lnTo>
                  <a:pt x="4645860" y="0"/>
                </a:lnTo>
                <a:lnTo>
                  <a:pt x="4645860" y="2546620"/>
                </a:lnTo>
                <a:lnTo>
                  <a:pt x="0" y="2546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  <p:sp>
        <p:nvSpPr>
          <p:cNvPr id="6" name="TextBox 6"/>
          <p:cNvSpPr txBox="1"/>
          <p:nvPr/>
        </p:nvSpPr>
        <p:spPr>
          <a:xfrm>
            <a:off x="7106369" y="675291"/>
            <a:ext cx="6853884" cy="68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3948" b="1">
                <a:solidFill>
                  <a:srgbClr val="00000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VISUALISATION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86680" y="3039562"/>
            <a:ext cx="11587780" cy="292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944" lvl="1" indent="-282972" algn="l">
              <a:lnSpc>
                <a:spcPts val="5950"/>
              </a:lnSpc>
              <a:buFont typeface="Arial"/>
              <a:buChar char="•"/>
            </a:pPr>
            <a:r>
              <a:rPr lang="en-US" sz="2621" b="1" spc="2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TOP 20 HITS </a:t>
            </a:r>
          </a:p>
          <a:p>
            <a:pPr marL="565944" lvl="1" indent="-282972" algn="l">
              <a:lnSpc>
                <a:spcPts val="5950"/>
              </a:lnSpc>
              <a:buFont typeface="Arial"/>
              <a:buChar char="•"/>
            </a:pPr>
            <a:r>
              <a:rPr lang="en-US" sz="2621" b="1" spc="2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CHANSONS DURABLES </a:t>
            </a:r>
          </a:p>
          <a:p>
            <a:pPr marL="565944" lvl="1" indent="-282972" algn="l">
              <a:lnSpc>
                <a:spcPts val="5950"/>
              </a:lnSpc>
              <a:buFont typeface="Arial"/>
              <a:buChar char="•"/>
            </a:pPr>
            <a:r>
              <a:rPr lang="en-US" sz="2621" b="1" spc="2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TOP ARTISTES </a:t>
            </a:r>
          </a:p>
          <a:p>
            <a:pPr marL="565944" lvl="1" indent="-282972" algn="l">
              <a:lnSpc>
                <a:spcPts val="5950"/>
              </a:lnSpc>
              <a:buFont typeface="Arial"/>
              <a:buChar char="•"/>
            </a:pPr>
            <a:r>
              <a:rPr lang="en-US" sz="2621" b="1" spc="25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LABELS DOMINANTS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7800" y="3087435"/>
            <a:ext cx="15976077" cy="268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1" spc="354" dirty="0">
                <a:solidFill>
                  <a:srgbClr val="00000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MERCI POUR VOTRE ATTENTION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-1" y="1514147"/>
            <a:ext cx="18288001" cy="4307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4" name="AutoShape 4"/>
          <p:cNvSpPr/>
          <p:nvPr/>
        </p:nvSpPr>
        <p:spPr>
          <a:xfrm flipV="1">
            <a:off x="-1" y="592726"/>
            <a:ext cx="18288001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5" name="AutoShape 5"/>
          <p:cNvSpPr/>
          <p:nvPr/>
        </p:nvSpPr>
        <p:spPr>
          <a:xfrm flipV="1">
            <a:off x="-1" y="8729782"/>
            <a:ext cx="18288001" cy="2716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6" name="AutoShape 6"/>
          <p:cNvSpPr/>
          <p:nvPr/>
        </p:nvSpPr>
        <p:spPr>
          <a:xfrm>
            <a:off x="-1" y="9721438"/>
            <a:ext cx="18288001" cy="4307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7" name="Freeform 7"/>
          <p:cNvSpPr/>
          <p:nvPr/>
        </p:nvSpPr>
        <p:spPr>
          <a:xfrm>
            <a:off x="16681651" y="7221899"/>
            <a:ext cx="1326205" cy="1326205"/>
          </a:xfrm>
          <a:custGeom>
            <a:avLst/>
            <a:gdLst/>
            <a:ahLst/>
            <a:cxnLst/>
            <a:rect l="l" t="t" r="r" b="b"/>
            <a:pathLst>
              <a:path w="1326205" h="1326205">
                <a:moveTo>
                  <a:pt x="0" y="0"/>
                </a:moveTo>
                <a:lnTo>
                  <a:pt x="1326204" y="0"/>
                </a:lnTo>
                <a:lnTo>
                  <a:pt x="1326204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360</Words>
  <Application>Microsoft Office PowerPoint</Application>
  <PresentationFormat>Personnalisé</PresentationFormat>
  <Paragraphs>74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Inter Bold</vt:lpstr>
      <vt:lpstr>Cy Grotesk Grand Bold</vt:lpstr>
      <vt:lpstr>Times New Roman Bold</vt:lpstr>
      <vt:lpstr>Calibri</vt:lpstr>
      <vt:lpstr>Arial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Gray Urban Bold Music Presentation</dc:title>
  <dc:creator>aya el kalef</dc:creator>
  <cp:lastModifiedBy>aya el kalef</cp:lastModifiedBy>
  <cp:revision>3</cp:revision>
  <dcterms:created xsi:type="dcterms:W3CDTF">2006-08-16T00:00:00Z</dcterms:created>
  <dcterms:modified xsi:type="dcterms:W3CDTF">2026-01-29T11:06:28Z</dcterms:modified>
  <dc:identifier>DAG_vkjRLII</dc:identifier>
</cp:coreProperties>
</file>